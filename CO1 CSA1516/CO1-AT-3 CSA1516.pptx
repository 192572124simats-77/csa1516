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83" r:id="rId2"/>
    <p:sldMasterId id="2147483700" r:id="rId3"/>
    <p:sldMasterId id="2147483792" r:id="rId4"/>
  </p:sldMasterIdLst>
  <p:notesMasterIdLst>
    <p:notesMasterId r:id="rId18"/>
  </p:notesMasterIdLst>
  <p:sldIdLst>
    <p:sldId id="256" r:id="rId5"/>
    <p:sldId id="258" r:id="rId6"/>
    <p:sldId id="259" r:id="rId7"/>
    <p:sldId id="274" r:id="rId8"/>
    <p:sldId id="257" r:id="rId9"/>
    <p:sldId id="263" r:id="rId10"/>
    <p:sldId id="277" r:id="rId11"/>
    <p:sldId id="268" r:id="rId12"/>
    <p:sldId id="295" r:id="rId13"/>
    <p:sldId id="296" r:id="rId14"/>
    <p:sldId id="264" r:id="rId15"/>
    <p:sldId id="291" r:id="rId16"/>
    <p:sldId id="289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F9C58B-7220-4911-8CF0-9DBCA061D8E6}" type="doc">
      <dgm:prSet loTypeId="urn:microsoft.com/office/officeart/2005/8/layout/hList6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7D9F7CB-72E9-484D-9C9A-A8E98580F48D}">
      <dgm:prSet custT="1"/>
      <dgm:spPr/>
      <dgm:t>
        <a:bodyPr/>
        <a:lstStyle/>
        <a:p>
          <a:pPr>
            <a:buNone/>
          </a:pPr>
          <a:r>
            <a:rPr lang="en-US" sz="2000" b="0" dirty="0">
              <a:latin typeface="Times New Roman" panose="02020603050405020304" pitchFamily="18" charset="0"/>
              <a:cs typeface="Times New Roman" panose="02020603050405020304" pitchFamily="18" charset="0"/>
            </a:rPr>
            <a:t>Overall, the chatbot improves communication efficiency and user experience in colleges.</a:t>
          </a:r>
        </a:p>
      </dgm:t>
    </dgm:pt>
    <dgm:pt modelId="{1B9B566D-E63D-4D53-A042-14A06FA54E6C}" type="sibTrans" cxnId="{3E83C9C2-6E90-4AC4-9DAD-0D17B9AADA9E}">
      <dgm:prSet/>
      <dgm:spPr/>
      <dgm:t>
        <a:bodyPr/>
        <a:lstStyle/>
        <a:p>
          <a:endParaRPr lang="en-IN"/>
        </a:p>
      </dgm:t>
    </dgm:pt>
    <dgm:pt modelId="{EE8DDA59-AC4D-4C43-9F89-0965288F8FF9}" type="parTrans" cxnId="{3E83C9C2-6E90-4AC4-9DAD-0D17B9AADA9E}">
      <dgm:prSet/>
      <dgm:spPr/>
      <dgm:t>
        <a:bodyPr/>
        <a:lstStyle/>
        <a:p>
          <a:endParaRPr lang="en-IN"/>
        </a:p>
      </dgm:t>
    </dgm:pt>
    <dgm:pt modelId="{6E54C96A-10EA-40D6-816A-AC4AAFF01676}">
      <dgm:prSet custT="1"/>
      <dgm:spPr/>
      <dgm:t>
        <a:bodyPr/>
        <a:lstStyle/>
        <a:p>
          <a:pPr>
            <a:buNone/>
          </a:pPr>
          <a:r>
            <a:rPr lang="en-US" sz="2000" b="0" dirty="0">
              <a:latin typeface="Times New Roman" panose="02020603050405020304" pitchFamily="18" charset="0"/>
              <a:cs typeface="Times New Roman" panose="02020603050405020304" pitchFamily="18" charset="0"/>
            </a:rPr>
            <a:t>Cloud technology makes the chatbot scalable, reliable, and easy to maintain.</a:t>
          </a:r>
        </a:p>
      </dgm:t>
    </dgm:pt>
    <dgm:pt modelId="{F97CC086-3D9E-4896-B659-5E069AAC8448}" type="sibTrans" cxnId="{BA81059E-5729-4DDC-8F9E-F4D925CCB8DE}">
      <dgm:prSet/>
      <dgm:spPr/>
      <dgm:t>
        <a:bodyPr/>
        <a:lstStyle/>
        <a:p>
          <a:endParaRPr lang="en-IN"/>
        </a:p>
      </dgm:t>
    </dgm:pt>
    <dgm:pt modelId="{E32C3A5E-6058-49AC-B131-843901BF37C8}" type="parTrans" cxnId="{BA81059E-5729-4DDC-8F9E-F4D925CCB8DE}">
      <dgm:prSet/>
      <dgm:spPr/>
      <dgm:t>
        <a:bodyPr/>
        <a:lstStyle/>
        <a:p>
          <a:endParaRPr lang="en-IN"/>
        </a:p>
      </dgm:t>
    </dgm:pt>
    <dgm:pt modelId="{C6D5D2D4-AE58-40D3-9329-522DDD78D8C6}">
      <dgm:prSet custT="1"/>
      <dgm:spPr/>
      <dgm:t>
        <a:bodyPr/>
        <a:lstStyle/>
        <a:p>
          <a:pPr>
            <a:buNone/>
          </a:pPr>
          <a:r>
            <a:rPr lang="en-US" sz="2000" b="0" dirty="0">
              <a:latin typeface="Times New Roman" panose="02020603050405020304" pitchFamily="18" charset="0"/>
              <a:cs typeface="Times New Roman" panose="02020603050405020304" pitchFamily="18" charset="0"/>
            </a:rPr>
            <a:t>The system reduces the workload of college staff by handling repeated questions.</a:t>
          </a:r>
        </a:p>
      </dgm:t>
    </dgm:pt>
    <dgm:pt modelId="{0D137306-57FE-4D64-984C-63CF7ECC9BFD}" type="sibTrans" cxnId="{0C94EED4-8497-494B-9163-F400E0DA2115}">
      <dgm:prSet/>
      <dgm:spPr/>
      <dgm:t>
        <a:bodyPr/>
        <a:lstStyle/>
        <a:p>
          <a:endParaRPr lang="en-IN"/>
        </a:p>
      </dgm:t>
    </dgm:pt>
    <dgm:pt modelId="{31111012-589E-412B-9A37-EAB1F75CC9F0}" type="parTrans" cxnId="{0C94EED4-8497-494B-9163-F400E0DA2115}">
      <dgm:prSet/>
      <dgm:spPr/>
      <dgm:t>
        <a:bodyPr/>
        <a:lstStyle/>
        <a:p>
          <a:endParaRPr lang="en-IN"/>
        </a:p>
      </dgm:t>
    </dgm:pt>
    <dgm:pt modelId="{33FF57AA-074B-4F12-969F-BBED27568659}">
      <dgm:prSet custT="1"/>
      <dgm:spPr/>
      <dgm:t>
        <a:bodyPr/>
        <a:lstStyle/>
        <a:p>
          <a:pPr>
            <a:buNone/>
          </a:pPr>
          <a:r>
            <a:rPr lang="en-US" sz="2000" b="0" dirty="0">
              <a:latin typeface="Times New Roman" panose="02020603050405020304" pitchFamily="18" charset="0"/>
              <a:cs typeface="Times New Roman" panose="02020603050405020304" pitchFamily="18" charset="0"/>
            </a:rPr>
            <a:t>It helps students and parents get information anytime without visiting the college.</a:t>
          </a:r>
        </a:p>
      </dgm:t>
    </dgm:pt>
    <dgm:pt modelId="{27774A88-76CE-4CC7-BBDB-C0ABD8C1E458}" type="sibTrans" cxnId="{4E3623AC-E95A-401D-8D9E-4FEF7AA9DA8A}">
      <dgm:prSet/>
      <dgm:spPr/>
      <dgm:t>
        <a:bodyPr/>
        <a:lstStyle/>
        <a:p>
          <a:endParaRPr lang="en-IN"/>
        </a:p>
      </dgm:t>
    </dgm:pt>
    <dgm:pt modelId="{FA4B98FA-72FA-4CED-A0AA-95AC1740016F}" type="parTrans" cxnId="{4E3623AC-E95A-401D-8D9E-4FEF7AA9DA8A}">
      <dgm:prSet/>
      <dgm:spPr/>
      <dgm:t>
        <a:bodyPr/>
        <a:lstStyle/>
        <a:p>
          <a:endParaRPr lang="en-IN"/>
        </a:p>
      </dgm:t>
    </dgm:pt>
    <dgm:pt modelId="{71EA6DB5-B96A-46B2-9D8A-3B8825663391}">
      <dgm:prSet custT="1"/>
      <dgm:spPr/>
      <dgm:t>
        <a:bodyPr/>
        <a:lstStyle/>
        <a:p>
          <a:pPr>
            <a:buNone/>
          </a:pPr>
          <a:r>
            <a:rPr lang="en-US" sz="2000" b="0" dirty="0">
              <a:latin typeface="Times New Roman" panose="02020603050405020304" pitchFamily="18" charset="0"/>
              <a:cs typeface="Times New Roman" panose="02020603050405020304" pitchFamily="18" charset="0"/>
            </a:rPr>
            <a:t>The cloud-based chatbot provides quick and accurate answers to college enquiries.</a:t>
          </a:r>
        </a:p>
      </dgm:t>
    </dgm:pt>
    <dgm:pt modelId="{7DB8046B-7E86-4FEF-846C-CF3896463428}" type="sibTrans" cxnId="{E541427A-6721-45C0-AF6E-87574F2A1B22}">
      <dgm:prSet/>
      <dgm:spPr/>
      <dgm:t>
        <a:bodyPr/>
        <a:lstStyle/>
        <a:p>
          <a:endParaRPr lang="en-IN"/>
        </a:p>
      </dgm:t>
    </dgm:pt>
    <dgm:pt modelId="{43A462C2-290C-4DF3-AC9C-848A88866E1B}" type="parTrans" cxnId="{E541427A-6721-45C0-AF6E-87574F2A1B22}">
      <dgm:prSet/>
      <dgm:spPr/>
      <dgm:t>
        <a:bodyPr/>
        <a:lstStyle/>
        <a:p>
          <a:endParaRPr lang="en-IN"/>
        </a:p>
      </dgm:t>
    </dgm:pt>
    <dgm:pt modelId="{A3DBD411-7986-4E73-AAAC-1C879EAC9465}" type="pres">
      <dgm:prSet presAssocID="{05F9C58B-7220-4911-8CF0-9DBCA061D8E6}" presName="Name0" presStyleCnt="0">
        <dgm:presLayoutVars>
          <dgm:dir/>
          <dgm:resizeHandles val="exact"/>
        </dgm:presLayoutVars>
      </dgm:prSet>
      <dgm:spPr/>
    </dgm:pt>
    <dgm:pt modelId="{E47CC266-321E-4C7E-A49F-47E96F940FB4}" type="pres">
      <dgm:prSet presAssocID="{71EA6DB5-B96A-46B2-9D8A-3B8825663391}" presName="node" presStyleLbl="node1" presStyleIdx="0" presStyleCnt="5">
        <dgm:presLayoutVars>
          <dgm:bulletEnabled val="1"/>
        </dgm:presLayoutVars>
      </dgm:prSet>
      <dgm:spPr/>
    </dgm:pt>
    <dgm:pt modelId="{06253893-B8B1-4CF2-AFE8-88004FF76173}" type="pres">
      <dgm:prSet presAssocID="{7DB8046B-7E86-4FEF-846C-CF3896463428}" presName="sibTrans" presStyleCnt="0"/>
      <dgm:spPr/>
    </dgm:pt>
    <dgm:pt modelId="{CED5C238-3EBF-445F-8169-4A87895A11A0}" type="pres">
      <dgm:prSet presAssocID="{33FF57AA-074B-4F12-969F-BBED27568659}" presName="node" presStyleLbl="node1" presStyleIdx="1" presStyleCnt="5">
        <dgm:presLayoutVars>
          <dgm:bulletEnabled val="1"/>
        </dgm:presLayoutVars>
      </dgm:prSet>
      <dgm:spPr/>
    </dgm:pt>
    <dgm:pt modelId="{492DB9EC-0136-4642-9569-261783232A73}" type="pres">
      <dgm:prSet presAssocID="{27774A88-76CE-4CC7-BBDB-C0ABD8C1E458}" presName="sibTrans" presStyleCnt="0"/>
      <dgm:spPr/>
    </dgm:pt>
    <dgm:pt modelId="{F351F95A-9C20-4D2A-9896-744FF48510FE}" type="pres">
      <dgm:prSet presAssocID="{C6D5D2D4-AE58-40D3-9329-522DDD78D8C6}" presName="node" presStyleLbl="node1" presStyleIdx="2" presStyleCnt="5">
        <dgm:presLayoutVars>
          <dgm:bulletEnabled val="1"/>
        </dgm:presLayoutVars>
      </dgm:prSet>
      <dgm:spPr/>
    </dgm:pt>
    <dgm:pt modelId="{19FF51A5-BD66-450F-81D6-66EF2B7EE0B0}" type="pres">
      <dgm:prSet presAssocID="{0D137306-57FE-4D64-984C-63CF7ECC9BFD}" presName="sibTrans" presStyleCnt="0"/>
      <dgm:spPr/>
    </dgm:pt>
    <dgm:pt modelId="{C05A7552-3F2E-46B2-8993-A1D19AE3A304}" type="pres">
      <dgm:prSet presAssocID="{6E54C96A-10EA-40D6-816A-AC4AAFF01676}" presName="node" presStyleLbl="node1" presStyleIdx="3" presStyleCnt="5">
        <dgm:presLayoutVars>
          <dgm:bulletEnabled val="1"/>
        </dgm:presLayoutVars>
      </dgm:prSet>
      <dgm:spPr/>
    </dgm:pt>
    <dgm:pt modelId="{5111CA60-EE99-4983-B2C0-D58DE13F818C}" type="pres">
      <dgm:prSet presAssocID="{F97CC086-3D9E-4896-B659-5E069AAC8448}" presName="sibTrans" presStyleCnt="0"/>
      <dgm:spPr/>
    </dgm:pt>
    <dgm:pt modelId="{CDEB83D5-8BDF-41B8-9FF9-BFB45BEC9B75}" type="pres">
      <dgm:prSet presAssocID="{E7D9F7CB-72E9-484D-9C9A-A8E98580F48D}" presName="node" presStyleLbl="node1" presStyleIdx="4" presStyleCnt="5">
        <dgm:presLayoutVars>
          <dgm:bulletEnabled val="1"/>
        </dgm:presLayoutVars>
      </dgm:prSet>
      <dgm:spPr/>
    </dgm:pt>
  </dgm:ptLst>
  <dgm:cxnLst>
    <dgm:cxn modelId="{CFBF5301-E425-45A6-914D-54F04AFC2E09}" type="presOf" srcId="{C6D5D2D4-AE58-40D3-9329-522DDD78D8C6}" destId="{F351F95A-9C20-4D2A-9896-744FF48510FE}" srcOrd="0" destOrd="0" presId="urn:microsoft.com/office/officeart/2005/8/layout/hList6"/>
    <dgm:cxn modelId="{5ACA1C04-8F75-43F2-A57E-1A49267B15CC}" type="presOf" srcId="{E7D9F7CB-72E9-484D-9C9A-A8E98580F48D}" destId="{CDEB83D5-8BDF-41B8-9FF9-BFB45BEC9B75}" srcOrd="0" destOrd="0" presId="urn:microsoft.com/office/officeart/2005/8/layout/hList6"/>
    <dgm:cxn modelId="{82DD3A32-6365-47F7-B5D2-DBC3272FB0B5}" type="presOf" srcId="{33FF57AA-074B-4F12-969F-BBED27568659}" destId="{CED5C238-3EBF-445F-8169-4A87895A11A0}" srcOrd="0" destOrd="0" presId="urn:microsoft.com/office/officeart/2005/8/layout/hList6"/>
    <dgm:cxn modelId="{4A22305E-F224-4F2D-A255-6497133B78F5}" type="presOf" srcId="{6E54C96A-10EA-40D6-816A-AC4AAFF01676}" destId="{C05A7552-3F2E-46B2-8993-A1D19AE3A304}" srcOrd="0" destOrd="0" presId="urn:microsoft.com/office/officeart/2005/8/layout/hList6"/>
    <dgm:cxn modelId="{05BF644F-B1D1-4B7F-8371-6FDDF85FB81C}" type="presOf" srcId="{71EA6DB5-B96A-46B2-9D8A-3B8825663391}" destId="{E47CC266-321E-4C7E-A49F-47E96F940FB4}" srcOrd="0" destOrd="0" presId="urn:microsoft.com/office/officeart/2005/8/layout/hList6"/>
    <dgm:cxn modelId="{E541427A-6721-45C0-AF6E-87574F2A1B22}" srcId="{05F9C58B-7220-4911-8CF0-9DBCA061D8E6}" destId="{71EA6DB5-B96A-46B2-9D8A-3B8825663391}" srcOrd="0" destOrd="0" parTransId="{43A462C2-290C-4DF3-AC9C-848A88866E1B}" sibTransId="{7DB8046B-7E86-4FEF-846C-CF3896463428}"/>
    <dgm:cxn modelId="{BA81059E-5729-4DDC-8F9E-F4D925CCB8DE}" srcId="{05F9C58B-7220-4911-8CF0-9DBCA061D8E6}" destId="{6E54C96A-10EA-40D6-816A-AC4AAFF01676}" srcOrd="3" destOrd="0" parTransId="{E32C3A5E-6058-49AC-B131-843901BF37C8}" sibTransId="{F97CC086-3D9E-4896-B659-5E069AAC8448}"/>
    <dgm:cxn modelId="{4E3623AC-E95A-401D-8D9E-4FEF7AA9DA8A}" srcId="{05F9C58B-7220-4911-8CF0-9DBCA061D8E6}" destId="{33FF57AA-074B-4F12-969F-BBED27568659}" srcOrd="1" destOrd="0" parTransId="{FA4B98FA-72FA-4CED-A0AA-95AC1740016F}" sibTransId="{27774A88-76CE-4CC7-BBDB-C0ABD8C1E458}"/>
    <dgm:cxn modelId="{3E83C9C2-6E90-4AC4-9DAD-0D17B9AADA9E}" srcId="{05F9C58B-7220-4911-8CF0-9DBCA061D8E6}" destId="{E7D9F7CB-72E9-484D-9C9A-A8E98580F48D}" srcOrd="4" destOrd="0" parTransId="{EE8DDA59-AC4D-4C43-9F89-0965288F8FF9}" sibTransId="{1B9B566D-E63D-4D53-A042-14A06FA54E6C}"/>
    <dgm:cxn modelId="{0C94EED4-8497-494B-9163-F400E0DA2115}" srcId="{05F9C58B-7220-4911-8CF0-9DBCA061D8E6}" destId="{C6D5D2D4-AE58-40D3-9329-522DDD78D8C6}" srcOrd="2" destOrd="0" parTransId="{31111012-589E-412B-9A37-EAB1F75CC9F0}" sibTransId="{0D137306-57FE-4D64-984C-63CF7ECC9BFD}"/>
    <dgm:cxn modelId="{E63344D7-E4DE-40F8-A5CD-08CC82782D6B}" type="presOf" srcId="{05F9C58B-7220-4911-8CF0-9DBCA061D8E6}" destId="{A3DBD411-7986-4E73-AAAC-1C879EAC9465}" srcOrd="0" destOrd="0" presId="urn:microsoft.com/office/officeart/2005/8/layout/hList6"/>
    <dgm:cxn modelId="{06B25655-C6A1-488C-B50B-64FE32B41B14}" type="presParOf" srcId="{A3DBD411-7986-4E73-AAAC-1C879EAC9465}" destId="{E47CC266-321E-4C7E-A49F-47E96F940FB4}" srcOrd="0" destOrd="0" presId="urn:microsoft.com/office/officeart/2005/8/layout/hList6"/>
    <dgm:cxn modelId="{B0715446-489A-4962-BB3C-78B38E5ADF6B}" type="presParOf" srcId="{A3DBD411-7986-4E73-AAAC-1C879EAC9465}" destId="{06253893-B8B1-4CF2-AFE8-88004FF76173}" srcOrd="1" destOrd="0" presId="urn:microsoft.com/office/officeart/2005/8/layout/hList6"/>
    <dgm:cxn modelId="{FEE2CBB2-F188-4901-BB21-7C969682A6D0}" type="presParOf" srcId="{A3DBD411-7986-4E73-AAAC-1C879EAC9465}" destId="{CED5C238-3EBF-445F-8169-4A87895A11A0}" srcOrd="2" destOrd="0" presId="urn:microsoft.com/office/officeart/2005/8/layout/hList6"/>
    <dgm:cxn modelId="{9DBE7637-2806-4711-A05D-E4C01F26E557}" type="presParOf" srcId="{A3DBD411-7986-4E73-AAAC-1C879EAC9465}" destId="{492DB9EC-0136-4642-9569-261783232A73}" srcOrd="3" destOrd="0" presId="urn:microsoft.com/office/officeart/2005/8/layout/hList6"/>
    <dgm:cxn modelId="{F0958899-988D-4F37-B2A9-84746DE95C45}" type="presParOf" srcId="{A3DBD411-7986-4E73-AAAC-1C879EAC9465}" destId="{F351F95A-9C20-4D2A-9896-744FF48510FE}" srcOrd="4" destOrd="0" presId="urn:microsoft.com/office/officeart/2005/8/layout/hList6"/>
    <dgm:cxn modelId="{06DCE404-EF09-48C2-AF5A-3A92A0FCBCAE}" type="presParOf" srcId="{A3DBD411-7986-4E73-AAAC-1C879EAC9465}" destId="{19FF51A5-BD66-450F-81D6-66EF2B7EE0B0}" srcOrd="5" destOrd="0" presId="urn:microsoft.com/office/officeart/2005/8/layout/hList6"/>
    <dgm:cxn modelId="{F6F90B6D-619B-41CF-AC6D-75EEAC805E55}" type="presParOf" srcId="{A3DBD411-7986-4E73-AAAC-1C879EAC9465}" destId="{C05A7552-3F2E-46B2-8993-A1D19AE3A304}" srcOrd="6" destOrd="0" presId="urn:microsoft.com/office/officeart/2005/8/layout/hList6"/>
    <dgm:cxn modelId="{3C3F279C-A482-430F-AD76-6E69E3FCE77D}" type="presParOf" srcId="{A3DBD411-7986-4E73-AAAC-1C879EAC9465}" destId="{5111CA60-EE99-4983-B2C0-D58DE13F818C}" srcOrd="7" destOrd="0" presId="urn:microsoft.com/office/officeart/2005/8/layout/hList6"/>
    <dgm:cxn modelId="{8191F228-8BEC-466A-A95B-E38456018002}" type="presParOf" srcId="{A3DBD411-7986-4E73-AAAC-1C879EAC9465}" destId="{CDEB83D5-8BDF-41B8-9FF9-BFB45BEC9B75}" srcOrd="8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7CC266-321E-4C7E-A49F-47E96F940FB4}">
      <dsp:nvSpPr>
        <dsp:cNvPr id="0" name=""/>
        <dsp:cNvSpPr/>
      </dsp:nvSpPr>
      <dsp:spPr>
        <a:xfrm rot="16200000">
          <a:off x="-720440" y="726276"/>
          <a:ext cx="3500284" cy="2047731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cloud-based chatbot provides quick and accurate answers to college enquiries.</a:t>
          </a:r>
        </a:p>
      </dsp:txBody>
      <dsp:txXfrm rot="5400000">
        <a:off x="5836" y="700057"/>
        <a:ext cx="2047731" cy="2100170"/>
      </dsp:txXfrm>
    </dsp:sp>
    <dsp:sp modelId="{CED5C238-3EBF-445F-8169-4A87895A11A0}">
      <dsp:nvSpPr>
        <dsp:cNvPr id="0" name=""/>
        <dsp:cNvSpPr/>
      </dsp:nvSpPr>
      <dsp:spPr>
        <a:xfrm rot="16200000">
          <a:off x="1480870" y="726276"/>
          <a:ext cx="3500284" cy="2047731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It helps students and parents get information anytime without visiting the college.</a:t>
          </a:r>
        </a:p>
      </dsp:txBody>
      <dsp:txXfrm rot="5400000">
        <a:off x="2207146" y="700057"/>
        <a:ext cx="2047731" cy="2100170"/>
      </dsp:txXfrm>
    </dsp:sp>
    <dsp:sp modelId="{F351F95A-9C20-4D2A-9896-744FF48510FE}">
      <dsp:nvSpPr>
        <dsp:cNvPr id="0" name=""/>
        <dsp:cNvSpPr/>
      </dsp:nvSpPr>
      <dsp:spPr>
        <a:xfrm rot="16200000">
          <a:off x="3682180" y="726276"/>
          <a:ext cx="3500284" cy="2047731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system reduces the workload of college staff by handling repeated questions.</a:t>
          </a:r>
        </a:p>
      </dsp:txBody>
      <dsp:txXfrm rot="5400000">
        <a:off x="4408456" y="700057"/>
        <a:ext cx="2047731" cy="2100170"/>
      </dsp:txXfrm>
    </dsp:sp>
    <dsp:sp modelId="{C05A7552-3F2E-46B2-8993-A1D19AE3A304}">
      <dsp:nvSpPr>
        <dsp:cNvPr id="0" name=""/>
        <dsp:cNvSpPr/>
      </dsp:nvSpPr>
      <dsp:spPr>
        <a:xfrm rot="16200000">
          <a:off x="5883491" y="726276"/>
          <a:ext cx="3500284" cy="2047731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Cloud technology makes the chatbot scalable, reliable, and easy to maintain.</a:t>
          </a:r>
        </a:p>
      </dsp:txBody>
      <dsp:txXfrm rot="5400000">
        <a:off x="6609767" y="700057"/>
        <a:ext cx="2047731" cy="2100170"/>
      </dsp:txXfrm>
    </dsp:sp>
    <dsp:sp modelId="{CDEB83D5-8BDF-41B8-9FF9-BFB45BEC9B75}">
      <dsp:nvSpPr>
        <dsp:cNvPr id="0" name=""/>
        <dsp:cNvSpPr/>
      </dsp:nvSpPr>
      <dsp:spPr>
        <a:xfrm rot="16200000">
          <a:off x="8084802" y="726276"/>
          <a:ext cx="3500284" cy="2047731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Overall, the chatbot improves communication efficiency and user experience in colleges.</a:t>
          </a:r>
        </a:p>
      </dsp:txBody>
      <dsp:txXfrm rot="5400000">
        <a:off x="8811078" y="700057"/>
        <a:ext cx="2047731" cy="21001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4446B7-29E6-472C-9F18-4393FB230039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33F8E-FCF6-4AF2-8A6D-BDE91BFC1A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103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33F8E-FCF6-4AF2-8A6D-BDE91BFC1A4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151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39750" y="2564904"/>
            <a:ext cx="4512501" cy="139765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sz="4800">
                <a:ea typeface="맑은 고딕" pitchFamily="50" charset="-127"/>
              </a:rPr>
              <a:t>FREE PPT TEMPLATES</a:t>
            </a:r>
            <a:endParaRPr lang="en-US" altLang="ko-KR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839552" y="4005064"/>
            <a:ext cx="4512501" cy="641571"/>
          </a:xfrm>
          <a:prstGeom prst="rect">
            <a:avLst/>
          </a:prstGeom>
        </p:spPr>
        <p:txBody>
          <a:bodyPr anchor="ctr"/>
          <a:lstStyle>
            <a:lvl1pPr mar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INSTERT THE TITLE OF YOUR </a:t>
            </a:r>
          </a:p>
          <a:p>
            <a:pPr lvl="0"/>
            <a:r>
              <a:rPr lang="en-US" altLang="ko-KR"/>
              <a:t>PRESENTATION HERE</a:t>
            </a:r>
            <a:endParaRPr lang="ko-KR" altLang="en-US"/>
          </a:p>
        </p:txBody>
      </p:sp>
      <p:sp>
        <p:nvSpPr>
          <p:cNvPr id="3" name="Oval 2"/>
          <p:cNvSpPr/>
          <p:nvPr/>
        </p:nvSpPr>
        <p:spPr>
          <a:xfrm>
            <a:off x="3972264" y="1328267"/>
            <a:ext cx="4320480" cy="4320480"/>
          </a:xfrm>
          <a:prstGeom prst="ellipse">
            <a:avLst/>
          </a:prstGeom>
          <a:noFill/>
          <a:ln w="158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000042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5034179"/>
            <a:ext cx="12192000" cy="7680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97" y="5802264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pic>
        <p:nvPicPr>
          <p:cNvPr id="4" name="Picture 2" descr="G:\002-KIMS BUSINESS\007-02-Googleslidesppt\02-GSppt-Contents-Kim\20170429\02-\item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220" y="477108"/>
            <a:ext cx="4135432" cy="4559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le 3"/>
          <p:cNvSpPr/>
          <p:nvPr/>
        </p:nvSpPr>
        <p:spPr>
          <a:xfrm rot="2539017">
            <a:off x="-200527" y="417145"/>
            <a:ext cx="1748665" cy="369112"/>
          </a:xfrm>
          <a:custGeom>
            <a:avLst/>
            <a:gdLst/>
            <a:ahLst/>
            <a:cxnLst/>
            <a:rect l="l" t="t" r="r" b="b"/>
            <a:pathLst>
              <a:path w="1311499" h="276834">
                <a:moveTo>
                  <a:pt x="0" y="168822"/>
                </a:moveTo>
                <a:lnTo>
                  <a:pt x="1257493" y="168822"/>
                </a:lnTo>
                <a:cubicBezTo>
                  <a:pt x="1287320" y="168822"/>
                  <a:pt x="1311499" y="193001"/>
                  <a:pt x="1311499" y="222828"/>
                </a:cubicBezTo>
                <a:cubicBezTo>
                  <a:pt x="1311499" y="252655"/>
                  <a:pt x="1287320" y="276834"/>
                  <a:pt x="1257493" y="276834"/>
                </a:cubicBezTo>
                <a:lnTo>
                  <a:pt x="98341" y="276834"/>
                </a:lnTo>
                <a:close/>
                <a:moveTo>
                  <a:pt x="13263" y="108012"/>
                </a:moveTo>
                <a:lnTo>
                  <a:pt x="131896" y="0"/>
                </a:lnTo>
                <a:lnTo>
                  <a:pt x="990679" y="0"/>
                </a:lnTo>
                <a:cubicBezTo>
                  <a:pt x="1020506" y="0"/>
                  <a:pt x="1044685" y="24179"/>
                  <a:pt x="1044685" y="54006"/>
                </a:cubicBezTo>
                <a:cubicBezTo>
                  <a:pt x="1044685" y="83833"/>
                  <a:pt x="1020506" y="108012"/>
                  <a:pt x="990679" y="108012"/>
                </a:cubicBezTo>
                <a:close/>
              </a:path>
            </a:pathLst>
          </a:custGeom>
          <a:solidFill>
            <a:schemeClr val="bg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Rounded Rectangle 7"/>
          <p:cNvSpPr/>
          <p:nvPr/>
        </p:nvSpPr>
        <p:spPr>
          <a:xfrm rot="2539017">
            <a:off x="10640990" y="6073545"/>
            <a:ext cx="1751973" cy="369113"/>
          </a:xfrm>
          <a:custGeom>
            <a:avLst/>
            <a:gdLst/>
            <a:ahLst/>
            <a:cxnLst/>
            <a:rect l="l" t="t" r="r" b="b"/>
            <a:pathLst>
              <a:path w="1313980" h="276835">
                <a:moveTo>
                  <a:pt x="282631" y="184641"/>
                </a:moveTo>
                <a:cubicBezTo>
                  <a:pt x="292404" y="174868"/>
                  <a:pt x="305907" y="168823"/>
                  <a:pt x="320820" y="168822"/>
                </a:cubicBezTo>
                <a:lnTo>
                  <a:pt x="1281494" y="168822"/>
                </a:lnTo>
                <a:lnTo>
                  <a:pt x="1162861" y="276834"/>
                </a:lnTo>
                <a:lnTo>
                  <a:pt x="320820" y="276835"/>
                </a:lnTo>
                <a:cubicBezTo>
                  <a:pt x="290992" y="276835"/>
                  <a:pt x="266814" y="252656"/>
                  <a:pt x="266814" y="222829"/>
                </a:cubicBezTo>
                <a:cubicBezTo>
                  <a:pt x="266814" y="207915"/>
                  <a:pt x="272859" y="194413"/>
                  <a:pt x="282631" y="184641"/>
                </a:cubicBezTo>
                <a:close/>
                <a:moveTo>
                  <a:pt x="15817" y="15819"/>
                </a:moveTo>
                <a:cubicBezTo>
                  <a:pt x="25590" y="6046"/>
                  <a:pt x="39091" y="1"/>
                  <a:pt x="54005" y="1"/>
                </a:cubicBezTo>
                <a:lnTo>
                  <a:pt x="1215638" y="0"/>
                </a:lnTo>
                <a:lnTo>
                  <a:pt x="1313980" y="108013"/>
                </a:lnTo>
                <a:lnTo>
                  <a:pt x="54005" y="108013"/>
                </a:lnTo>
                <a:cubicBezTo>
                  <a:pt x="24178" y="108013"/>
                  <a:pt x="0" y="83834"/>
                  <a:pt x="0" y="54007"/>
                </a:cubicBezTo>
                <a:cubicBezTo>
                  <a:pt x="0" y="39093"/>
                  <a:pt x="6044" y="25592"/>
                  <a:pt x="15817" y="15819"/>
                </a:cubicBezTo>
                <a:close/>
              </a:path>
            </a:pathLst>
          </a:cu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81996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3"/>
          <p:cNvSpPr/>
          <p:nvPr/>
        </p:nvSpPr>
        <p:spPr>
          <a:xfrm rot="2539017">
            <a:off x="-200527" y="417145"/>
            <a:ext cx="1748665" cy="369112"/>
          </a:xfrm>
          <a:custGeom>
            <a:avLst/>
            <a:gdLst/>
            <a:ahLst/>
            <a:cxnLst/>
            <a:rect l="l" t="t" r="r" b="b"/>
            <a:pathLst>
              <a:path w="1311499" h="276834">
                <a:moveTo>
                  <a:pt x="0" y="168822"/>
                </a:moveTo>
                <a:lnTo>
                  <a:pt x="1257493" y="168822"/>
                </a:lnTo>
                <a:cubicBezTo>
                  <a:pt x="1287320" y="168822"/>
                  <a:pt x="1311499" y="193001"/>
                  <a:pt x="1311499" y="222828"/>
                </a:cubicBezTo>
                <a:cubicBezTo>
                  <a:pt x="1311499" y="252655"/>
                  <a:pt x="1287320" y="276834"/>
                  <a:pt x="1257493" y="276834"/>
                </a:cubicBezTo>
                <a:lnTo>
                  <a:pt x="98341" y="276834"/>
                </a:lnTo>
                <a:close/>
                <a:moveTo>
                  <a:pt x="13263" y="108012"/>
                </a:moveTo>
                <a:lnTo>
                  <a:pt x="131896" y="0"/>
                </a:lnTo>
                <a:lnTo>
                  <a:pt x="990679" y="0"/>
                </a:lnTo>
                <a:cubicBezTo>
                  <a:pt x="1020506" y="0"/>
                  <a:pt x="1044685" y="24179"/>
                  <a:pt x="1044685" y="54006"/>
                </a:cubicBezTo>
                <a:cubicBezTo>
                  <a:pt x="1044685" y="83833"/>
                  <a:pt x="1020506" y="108012"/>
                  <a:pt x="990679" y="108012"/>
                </a:cubicBezTo>
                <a:close/>
              </a:path>
            </a:pathLst>
          </a:custGeom>
          <a:solidFill>
            <a:schemeClr val="bg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Rounded Rectangle 7"/>
          <p:cNvSpPr/>
          <p:nvPr/>
        </p:nvSpPr>
        <p:spPr>
          <a:xfrm rot="2539017">
            <a:off x="10640990" y="6073545"/>
            <a:ext cx="1751973" cy="369113"/>
          </a:xfrm>
          <a:custGeom>
            <a:avLst/>
            <a:gdLst/>
            <a:ahLst/>
            <a:cxnLst/>
            <a:rect l="l" t="t" r="r" b="b"/>
            <a:pathLst>
              <a:path w="1313980" h="276835">
                <a:moveTo>
                  <a:pt x="282631" y="184641"/>
                </a:moveTo>
                <a:cubicBezTo>
                  <a:pt x="292404" y="174868"/>
                  <a:pt x="305907" y="168823"/>
                  <a:pt x="320820" y="168822"/>
                </a:cubicBezTo>
                <a:lnTo>
                  <a:pt x="1281494" y="168822"/>
                </a:lnTo>
                <a:lnTo>
                  <a:pt x="1162861" y="276834"/>
                </a:lnTo>
                <a:lnTo>
                  <a:pt x="320820" y="276835"/>
                </a:lnTo>
                <a:cubicBezTo>
                  <a:pt x="290992" y="276835"/>
                  <a:pt x="266814" y="252656"/>
                  <a:pt x="266814" y="222829"/>
                </a:cubicBezTo>
                <a:cubicBezTo>
                  <a:pt x="266814" y="207915"/>
                  <a:pt x="272859" y="194413"/>
                  <a:pt x="282631" y="184641"/>
                </a:cubicBezTo>
                <a:close/>
                <a:moveTo>
                  <a:pt x="15817" y="15819"/>
                </a:moveTo>
                <a:cubicBezTo>
                  <a:pt x="25590" y="6046"/>
                  <a:pt x="39091" y="1"/>
                  <a:pt x="54005" y="1"/>
                </a:cubicBezTo>
                <a:lnTo>
                  <a:pt x="1215638" y="0"/>
                </a:lnTo>
                <a:lnTo>
                  <a:pt x="1313980" y="108013"/>
                </a:lnTo>
                <a:lnTo>
                  <a:pt x="54005" y="108013"/>
                </a:lnTo>
                <a:cubicBezTo>
                  <a:pt x="24178" y="108013"/>
                  <a:pt x="0" y="83834"/>
                  <a:pt x="0" y="54007"/>
                </a:cubicBezTo>
                <a:cubicBezTo>
                  <a:pt x="0" y="39093"/>
                  <a:pt x="6044" y="25592"/>
                  <a:pt x="15817" y="15819"/>
                </a:cubicBezTo>
                <a:close/>
              </a:path>
            </a:pathLst>
          </a:cu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2" name="Group 1"/>
          <p:cNvGrpSpPr/>
          <p:nvPr/>
        </p:nvGrpSpPr>
        <p:grpSpPr>
          <a:xfrm>
            <a:off x="3588222" y="426000"/>
            <a:ext cx="5838228" cy="5924465"/>
            <a:chOff x="2987824" y="255370"/>
            <a:chExt cx="3658591" cy="3712633"/>
          </a:xfrm>
        </p:grpSpPr>
        <p:sp>
          <p:nvSpPr>
            <p:cNvPr id="16" name="Rounded Rectangle 7"/>
            <p:cNvSpPr/>
            <p:nvPr userDrawn="1"/>
          </p:nvSpPr>
          <p:spPr>
            <a:xfrm rot="2743412">
              <a:off x="2570129" y="839249"/>
              <a:ext cx="1479455" cy="311698"/>
            </a:xfrm>
            <a:custGeom>
              <a:avLst/>
              <a:gdLst/>
              <a:ahLst/>
              <a:cxnLst/>
              <a:rect l="l" t="t" r="r" b="b"/>
              <a:pathLst>
                <a:path w="1313980" h="276835">
                  <a:moveTo>
                    <a:pt x="282631" y="184641"/>
                  </a:moveTo>
                  <a:cubicBezTo>
                    <a:pt x="292404" y="174868"/>
                    <a:pt x="305907" y="168823"/>
                    <a:pt x="320820" y="168822"/>
                  </a:cubicBezTo>
                  <a:lnTo>
                    <a:pt x="1281494" y="168822"/>
                  </a:lnTo>
                  <a:lnTo>
                    <a:pt x="1162861" y="276834"/>
                  </a:lnTo>
                  <a:lnTo>
                    <a:pt x="320820" y="276835"/>
                  </a:lnTo>
                  <a:cubicBezTo>
                    <a:pt x="290992" y="276835"/>
                    <a:pt x="266814" y="252656"/>
                    <a:pt x="266814" y="222829"/>
                  </a:cubicBezTo>
                  <a:cubicBezTo>
                    <a:pt x="266814" y="207915"/>
                    <a:pt x="272859" y="194413"/>
                    <a:pt x="282631" y="184641"/>
                  </a:cubicBezTo>
                  <a:close/>
                  <a:moveTo>
                    <a:pt x="15817" y="15819"/>
                  </a:moveTo>
                  <a:cubicBezTo>
                    <a:pt x="25590" y="6046"/>
                    <a:pt x="39091" y="1"/>
                    <a:pt x="54005" y="1"/>
                  </a:cubicBezTo>
                  <a:lnTo>
                    <a:pt x="1215638" y="0"/>
                  </a:lnTo>
                  <a:lnTo>
                    <a:pt x="1313980" y="108013"/>
                  </a:lnTo>
                  <a:lnTo>
                    <a:pt x="54005" y="108013"/>
                  </a:lnTo>
                  <a:cubicBezTo>
                    <a:pt x="24178" y="108013"/>
                    <a:pt x="0" y="83834"/>
                    <a:pt x="0" y="54007"/>
                  </a:cubicBezTo>
                  <a:cubicBezTo>
                    <a:pt x="0" y="39093"/>
                    <a:pt x="6044" y="25592"/>
                    <a:pt x="15817" y="15819"/>
                  </a:cubicBezTo>
                  <a:close/>
                </a:path>
              </a:pathLst>
            </a:custGeom>
            <a:solidFill>
              <a:schemeClr val="bg1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7" name="Rounded Rectangle 3"/>
            <p:cNvSpPr/>
            <p:nvPr userDrawn="1"/>
          </p:nvSpPr>
          <p:spPr>
            <a:xfrm rot="2588287">
              <a:off x="4911045" y="3207276"/>
              <a:ext cx="1476662" cy="311697"/>
            </a:xfrm>
            <a:custGeom>
              <a:avLst/>
              <a:gdLst/>
              <a:ahLst/>
              <a:cxnLst/>
              <a:rect l="l" t="t" r="r" b="b"/>
              <a:pathLst>
                <a:path w="1311499" h="276834">
                  <a:moveTo>
                    <a:pt x="0" y="168822"/>
                  </a:moveTo>
                  <a:lnTo>
                    <a:pt x="1257493" y="168822"/>
                  </a:lnTo>
                  <a:cubicBezTo>
                    <a:pt x="1287320" y="168822"/>
                    <a:pt x="1311499" y="193001"/>
                    <a:pt x="1311499" y="222828"/>
                  </a:cubicBezTo>
                  <a:cubicBezTo>
                    <a:pt x="1311499" y="252655"/>
                    <a:pt x="1287320" y="276834"/>
                    <a:pt x="1257493" y="276834"/>
                  </a:cubicBezTo>
                  <a:lnTo>
                    <a:pt x="98341" y="276834"/>
                  </a:lnTo>
                  <a:close/>
                  <a:moveTo>
                    <a:pt x="13263" y="108012"/>
                  </a:moveTo>
                  <a:lnTo>
                    <a:pt x="131896" y="0"/>
                  </a:lnTo>
                  <a:lnTo>
                    <a:pt x="990679" y="0"/>
                  </a:lnTo>
                  <a:cubicBezTo>
                    <a:pt x="1020506" y="0"/>
                    <a:pt x="1044685" y="24179"/>
                    <a:pt x="1044685" y="54006"/>
                  </a:cubicBezTo>
                  <a:cubicBezTo>
                    <a:pt x="1044685" y="83833"/>
                    <a:pt x="1020506" y="108012"/>
                    <a:pt x="990679" y="108012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7" name="Group 6"/>
            <p:cNvGrpSpPr/>
            <p:nvPr userDrawn="1"/>
          </p:nvGrpSpPr>
          <p:grpSpPr>
            <a:xfrm>
              <a:off x="2987824" y="302237"/>
              <a:ext cx="3658591" cy="3665766"/>
              <a:chOff x="894913" y="1065128"/>
              <a:chExt cx="2420639" cy="2425386"/>
            </a:xfrm>
          </p:grpSpPr>
          <p:pic>
            <p:nvPicPr>
              <p:cNvPr id="8" name="Picture 7" descr="G:\002-KIMS BUSINESS\007-02-Googleslidesppt\02-GSppt-Contents-Kim\20170429\02-\item0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44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004758">
                <a:off x="963129" y="1820488"/>
                <a:ext cx="1630218" cy="170983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Picture 4" descr="G:\002-KIMS BUSINESS\007-02-Googleslidesppt\02-GSppt-Contents-Kim\20170429\02-\item02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569023">
                <a:off x="1645526" y="1354124"/>
                <a:ext cx="1630218" cy="170983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Oval 11"/>
              <p:cNvSpPr/>
              <p:nvPr/>
            </p:nvSpPr>
            <p:spPr>
              <a:xfrm>
                <a:off x="1115616" y="1539635"/>
                <a:ext cx="1616891" cy="161689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pic>
            <p:nvPicPr>
              <p:cNvPr id="13" name="Picture 4" descr="G:\002-KIMS BUSINESS\007-02-Googleslidesppt\02-GSppt-Contents-Kim\20170429\02-\item0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44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3475233">
                <a:off x="894913" y="1065128"/>
                <a:ext cx="1630218" cy="170983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9" name="Oval 18"/>
            <p:cNvSpPr/>
            <p:nvPr userDrawn="1"/>
          </p:nvSpPr>
          <p:spPr>
            <a:xfrm>
              <a:off x="3452395" y="1155308"/>
              <a:ext cx="2188355" cy="2188355"/>
            </a:xfrm>
            <a:prstGeom prst="ellipse">
              <a:avLst/>
            </a:prstGeom>
            <a:noFill/>
            <a:ln w="15875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523051" y="3044958"/>
            <a:ext cx="3145899" cy="7680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1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Welcome!!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522853" y="3813042"/>
            <a:ext cx="3145899" cy="7680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63087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A7AD5-8D30-452E-A688-4EAA97FD026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F9690-9784-4725-B18B-B1F742A2E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808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1113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05322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31371" y="164638"/>
            <a:ext cx="11760629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31371" y="932723"/>
            <a:ext cx="11760629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7845489-B228-40CA-99BD-CBA41EE6F99E}"/>
              </a:ext>
            </a:extLst>
          </p:cNvPr>
          <p:cNvSpPr/>
          <p:nvPr userDrawn="1"/>
        </p:nvSpPr>
        <p:spPr>
          <a:xfrm>
            <a:off x="0" y="1412776"/>
            <a:ext cx="12192000" cy="54452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744422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159563" y="164638"/>
            <a:ext cx="10032437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159563" y="932723"/>
            <a:ext cx="10032437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064682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751851" y="836712"/>
            <a:ext cx="1728192" cy="172819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751851" y="2708920"/>
            <a:ext cx="1728192" cy="172819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751851" y="4581128"/>
            <a:ext cx="1728192" cy="172819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794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0000" anchor="t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311691" y="404664"/>
            <a:ext cx="2592288" cy="60486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6235700" y="404664"/>
            <a:ext cx="2592288" cy="60486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297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663952" y="452670"/>
            <a:ext cx="2592288" cy="59526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592598" y="3699875"/>
            <a:ext cx="3072021" cy="2705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27382" y="3699875"/>
            <a:ext cx="4800213" cy="2705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857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 userDrawn="1"/>
        </p:nvSpPr>
        <p:spPr>
          <a:xfrm rot="10800000">
            <a:off x="9072000" y="1"/>
            <a:ext cx="3120000" cy="31200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7232793" y="382059"/>
            <a:ext cx="2880000" cy="2880000"/>
          </a:xfrm>
          <a:prstGeom prst="diamond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5680968" y="1969029"/>
            <a:ext cx="2880000" cy="2880000"/>
          </a:xfrm>
          <a:prstGeom prst="diamond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7232793" y="3550411"/>
            <a:ext cx="2880000" cy="2880000"/>
          </a:xfrm>
          <a:prstGeom prst="diamond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8784619" y="1969029"/>
            <a:ext cx="2880000" cy="2880000"/>
          </a:xfrm>
          <a:prstGeom prst="diamond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4" name="Right Triangle 13"/>
          <p:cNvSpPr/>
          <p:nvPr userDrawn="1"/>
        </p:nvSpPr>
        <p:spPr>
          <a:xfrm>
            <a:off x="0" y="3738000"/>
            <a:ext cx="3120000" cy="31200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268436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455925" y="0"/>
            <a:ext cx="2640075" cy="23183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6336245" y="0"/>
            <a:ext cx="2640075" cy="23183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216565" y="0"/>
            <a:ext cx="2640075" cy="23183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3455925" y="4539627"/>
            <a:ext cx="2640075" cy="23183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6336245" y="4539627"/>
            <a:ext cx="2640075" cy="23183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idx="20" hasCustomPrompt="1"/>
          </p:nvPr>
        </p:nvSpPr>
        <p:spPr>
          <a:xfrm>
            <a:off x="9216565" y="4539627"/>
            <a:ext cx="2640075" cy="23183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749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3717032"/>
            <a:ext cx="12192000" cy="31409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2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862" y="1460500"/>
            <a:ext cx="8015881" cy="4077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7044605" y="1988841"/>
            <a:ext cx="3778671" cy="2818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34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pic>
        <p:nvPicPr>
          <p:cNvPr id="5" name="Picture 2" descr="D:\KBM-정애\014-Fullppt\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13" y="1715136"/>
            <a:ext cx="4896544" cy="4882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1028215" y="1929043"/>
            <a:ext cx="4433516" cy="3098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67" baseline="0"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Insert Your Image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50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4502832" y="674682"/>
            <a:ext cx="3168352" cy="5472612"/>
            <a:chOff x="2627784" y="1825002"/>
            <a:chExt cx="1198166" cy="2069560"/>
          </a:xfrm>
        </p:grpSpPr>
        <p:sp>
          <p:nvSpPr>
            <p:cNvPr id="7" name="Rounded Rectangle 6"/>
            <p:cNvSpPr/>
            <p:nvPr/>
          </p:nvSpPr>
          <p:spPr>
            <a:xfrm>
              <a:off x="2627784" y="1825002"/>
              <a:ext cx="1198166" cy="206956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155241" y="1922844"/>
              <a:ext cx="143251" cy="27666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3168829" y="3704452"/>
              <a:ext cx="116076" cy="127684"/>
              <a:chOff x="2453209" y="5151638"/>
              <a:chExt cx="191820" cy="211002"/>
            </a:xfrm>
          </p:grpSpPr>
          <p:sp>
            <p:nvSpPr>
              <p:cNvPr id="12" name="Oval 11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13" name="Rounded Rectangle 12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</p:grpSp>
      </p:grp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701377" y="1124745"/>
            <a:ext cx="2789247" cy="43980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46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791744" y="0"/>
            <a:ext cx="8400256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379174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57809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23392" y="0"/>
            <a:ext cx="4416491" cy="17968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623392" y="5061181"/>
            <a:ext cx="4416491" cy="17968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623392" y="1988840"/>
            <a:ext cx="4416491" cy="2880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999068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6700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943872" y="3004317"/>
            <a:ext cx="7248128" cy="63143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943872" y="3635752"/>
            <a:ext cx="7248128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1812365" y="1808180"/>
            <a:ext cx="3227519" cy="3233848"/>
            <a:chOff x="894913" y="1065128"/>
            <a:chExt cx="2420639" cy="2425386"/>
          </a:xfrm>
        </p:grpSpPr>
        <p:pic>
          <p:nvPicPr>
            <p:cNvPr id="5" name="Picture 4" descr="G:\002-KIMS BUSINESS\007-02-Googleslidesppt\02-GSppt-Contents-Kim\20170429\02-\item02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4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004758">
              <a:off x="963129" y="1820488"/>
              <a:ext cx="1630218" cy="17098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G:\002-KIMS BUSINESS\007-02-Googleslidesppt\02-GSppt-Contents-Kim\20170429\02-\item02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569023">
              <a:off x="1645526" y="1354124"/>
              <a:ext cx="1630218" cy="17098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Oval 6"/>
            <p:cNvSpPr/>
            <p:nvPr/>
          </p:nvSpPr>
          <p:spPr>
            <a:xfrm>
              <a:off x="1115616" y="1539635"/>
              <a:ext cx="1616891" cy="161689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pic>
          <p:nvPicPr>
            <p:cNvPr id="8" name="Picture 4" descr="G:\002-KIMS BUSINESS\007-02-Googleslidesppt\02-GSppt-Contents-Kim\20170429\02-\item02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4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3475233">
              <a:off x="894913" y="1065128"/>
              <a:ext cx="1630218" cy="17098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4108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A7AD5-8D30-452E-A688-4EAA97FD026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F9690-9784-4725-B18B-B1F742A2ED2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223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727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2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8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095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5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60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17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25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083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07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8576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57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9122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20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007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02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100000">
              <a:schemeClr val="tx2">
                <a:lumMod val="20000"/>
                <a:lumOff val="80000"/>
              </a:schemeClr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55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100000">
              <a:schemeClr val="tx2">
                <a:lumMod val="20000"/>
                <a:lumOff val="80000"/>
              </a:schemeClr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732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100000">
              <a:schemeClr val="tx2">
                <a:lumMod val="20000"/>
                <a:lumOff val="80000"/>
              </a:schemeClr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1358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100000">
              <a:schemeClr val="tx2">
                <a:lumMod val="20000"/>
                <a:lumOff val="80000"/>
              </a:schemeClr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758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hyperlink" Target="https://arxiv.org/abs/2607.29385?utm_source=chatgpt.com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3.xml"/><Relationship Id="rId6" Type="http://schemas.openxmlformats.org/officeDocument/2006/relationships/hyperlink" Target="https://www.ijraset.com/research-paper/college-enquiry-chatbot-using-conversational-ai?utm_source=chatgpt.com" TargetMode="External"/><Relationship Id="rId5" Type="http://schemas.openxmlformats.org/officeDocument/2006/relationships/hyperlink" Target="https://rjwave.org/ijedr/papers/IJEDR26A1395.pdf?utm_source=chatgpt.com" TargetMode="External"/><Relationship Id="rId4" Type="http://schemas.openxmlformats.org/officeDocument/2006/relationships/hyperlink" Target="https://www.ijnrd.org/papers/IJNRDK001031.pdf?utm_source=chatgpt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ACB21B-CA6F-8354-9259-F008E4BF835A}"/>
              </a:ext>
            </a:extLst>
          </p:cNvPr>
          <p:cNvSpPr txBox="1"/>
          <p:nvPr/>
        </p:nvSpPr>
        <p:spPr>
          <a:xfrm>
            <a:off x="1926889" y="2882387"/>
            <a:ext cx="833822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BASED CHATBOT FOR COLLEGE </a:t>
            </a:r>
          </a:p>
          <a:p>
            <a:pPr algn="ctr"/>
            <a:r>
              <a:rPr lang="en-US" sz="32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ENQUIRY</a:t>
            </a:r>
            <a:endParaRPr lang="en-IN" sz="3200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1BA704-51FC-3A20-193B-72C95CC08640}"/>
              </a:ext>
            </a:extLst>
          </p:cNvPr>
          <p:cNvSpPr txBox="1"/>
          <p:nvPr/>
        </p:nvSpPr>
        <p:spPr>
          <a:xfrm>
            <a:off x="2778121" y="536370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45" marR="182245" algn="ctr">
              <a:spcBef>
                <a:spcPts val="2450"/>
              </a:spcBef>
            </a:pPr>
            <a:r>
              <a:rPr lang="en-IN" sz="3600" b="1" ker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SIMATS ENGINEERING</a:t>
            </a:r>
          </a:p>
        </p:txBody>
      </p:sp>
      <p:pic>
        <p:nvPicPr>
          <p:cNvPr id="8" name="Image 1">
            <a:extLst>
              <a:ext uri="{FF2B5EF4-FFF2-40B4-BE49-F238E27FC236}">
                <a16:creationId xmlns:a16="http://schemas.microsoft.com/office/drawing/2014/main" id="{1F01F0CE-5476-A379-7E9D-B875B3DB98B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643" y="187706"/>
            <a:ext cx="1104265" cy="1343660"/>
          </a:xfrm>
          <a:prstGeom prst="rect">
            <a:avLst/>
          </a:prstGeom>
        </p:spPr>
      </p:pic>
      <p:pic>
        <p:nvPicPr>
          <p:cNvPr id="9" name="Image 2">
            <a:extLst>
              <a:ext uri="{FF2B5EF4-FFF2-40B4-BE49-F238E27FC236}">
                <a16:creationId xmlns:a16="http://schemas.microsoft.com/office/drawing/2014/main" id="{2BBDED42-1E05-6067-C6D6-2084FFF2757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23811" y="187706"/>
            <a:ext cx="1527175" cy="13493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1AA2AFB-E8CE-3EE3-ACD4-1895D53901EC}"/>
              </a:ext>
            </a:extLst>
          </p:cNvPr>
          <p:cNvSpPr txBox="1"/>
          <p:nvPr/>
        </p:nvSpPr>
        <p:spPr>
          <a:xfrm>
            <a:off x="780157" y="5023203"/>
            <a:ext cx="39959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R.Jaideep (192525441)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Muhammed Sanin Febin(192511169)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Yenumula Naga Giridhar(192572124)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Melwin Joe J(192421380)</a:t>
            </a:r>
            <a:endParaRPr lang="en-US" b="1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E9BE62-B7A4-8522-626D-7DBBCA53A28F}"/>
              </a:ext>
            </a:extLst>
          </p:cNvPr>
          <p:cNvSpPr txBox="1"/>
          <p:nvPr/>
        </p:nvSpPr>
        <p:spPr>
          <a:xfrm>
            <a:off x="1426908" y="1781920"/>
            <a:ext cx="98044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CSA1516</a:t>
            </a:r>
            <a:r>
              <a:rPr lang="en-US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-Cloud Computing and Big Data Analytics using CSP</a:t>
            </a:r>
          </a:p>
          <a:p>
            <a:br>
              <a:rPr lang="en-US" b="1" dirty="0"/>
            </a:b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4F9326-74CF-D2D1-E929-5EDCA529DF10}"/>
              </a:ext>
            </a:extLst>
          </p:cNvPr>
          <p:cNvSpPr txBox="1"/>
          <p:nvPr/>
        </p:nvSpPr>
        <p:spPr>
          <a:xfrm>
            <a:off x="8995606" y="5504041"/>
            <a:ext cx="23766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: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Santhiya Lakshmi K</a:t>
            </a:r>
          </a:p>
          <a:p>
            <a:endParaRPr lang="en-US" b="1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800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F5333-16EF-3949-24B9-78996B4FF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D9A15ED-016F-F498-F54B-B5289382B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211" y="2170795"/>
            <a:ext cx="3899673" cy="43099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22DF868B-4635-6FB6-267D-C42C15A36D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2643" y="187706"/>
            <a:ext cx="1104265" cy="134366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D9D4A73B-F673-401C-DDC5-920BFAFAE62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23811" y="187706"/>
            <a:ext cx="1527175" cy="1349375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443D4DB-8FE1-B40E-D524-3B07769F550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48574" y="2204353"/>
            <a:ext cx="7830105" cy="4499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cloud-based chatbot is an automated system used to answer   college-related questions.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helps students and parents get information about admissions, courses, fees, and campus facilities.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chatbot works online using cloud technology, so it is 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available 24/7.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can interact with the chatbot through simple text-based  question.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system makes the enquiry process faster and reduces 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manual work for college staff.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25C519-D786-4335-B742-1ACD44365206}"/>
              </a:ext>
            </a:extLst>
          </p:cNvPr>
          <p:cNvSpPr/>
          <p:nvPr/>
        </p:nvSpPr>
        <p:spPr>
          <a:xfrm>
            <a:off x="4081508" y="536370"/>
            <a:ext cx="40289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64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CDBD-0275-B2EA-5CB7-11F59BFA0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CA32F10B-6412-27D1-E1D0-F6C874228A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902" y="215138"/>
            <a:ext cx="1104265" cy="1152023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A13144D-F13E-9099-F106-41D9524D38A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30944" y="215138"/>
            <a:ext cx="1527175" cy="11520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71712A-A2A5-2118-BD66-0D1C97584230}"/>
              </a:ext>
            </a:extLst>
          </p:cNvPr>
          <p:cNvSpPr txBox="1"/>
          <p:nvPr/>
        </p:nvSpPr>
        <p:spPr>
          <a:xfrm>
            <a:off x="3277480" y="467983"/>
            <a:ext cx="5637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A740132-2A31-4A9F-ACFD-E6B1BEB663D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03318" y="1564549"/>
            <a:ext cx="9985364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visitors face difficulty in accessing college information quickly.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enquiry methods can be time-consuming and require staff assistance.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College staff spend significant time responding to repetitive questions.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may not receive immediate support outside regular college working hours.</a:t>
            </a:r>
          </a:p>
          <a:p>
            <a:pPr marL="342900" lvl="0" indent="-3429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smart, cloud-based chatbot to provide quick and accurate information.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80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4EDEE-F9B7-ABA6-52D3-76DE48319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1C9E9-F301-05FB-0BD4-AC243009E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830" y="168777"/>
            <a:ext cx="8877554" cy="100534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/ Background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FB34BC2-1AF1-FF39-57BC-49415173495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46" y="0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51BEC578-6DD7-CAA1-5FD7-9689D376FCF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1938" y="0"/>
            <a:ext cx="1520062" cy="1342897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26B7193-6CAF-F1BE-0DCA-055493B96AF0}"/>
              </a:ext>
            </a:extLst>
          </p:cNvPr>
          <p:cNvCxnSpPr>
            <a:cxnSpLocks/>
          </p:cNvCxnSpPr>
          <p:nvPr/>
        </p:nvCxnSpPr>
        <p:spPr>
          <a:xfrm>
            <a:off x="11956648" y="1592928"/>
            <a:ext cx="0" cy="50960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11F9B5-4F49-4842-8EC1-CA535F839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66586"/>
              </p:ext>
            </p:extLst>
          </p:nvPr>
        </p:nvGraphicFramePr>
        <p:xfrm>
          <a:off x="235350" y="1428212"/>
          <a:ext cx="11721285" cy="535219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344257">
                  <a:extLst>
                    <a:ext uri="{9D8B030D-6E8A-4147-A177-3AD203B41FA5}">
                      <a16:colId xmlns:a16="http://schemas.microsoft.com/office/drawing/2014/main" val="3886419288"/>
                    </a:ext>
                  </a:extLst>
                </a:gridCol>
                <a:gridCol w="2344257">
                  <a:extLst>
                    <a:ext uri="{9D8B030D-6E8A-4147-A177-3AD203B41FA5}">
                      <a16:colId xmlns:a16="http://schemas.microsoft.com/office/drawing/2014/main" val="600502058"/>
                    </a:ext>
                  </a:extLst>
                </a:gridCol>
                <a:gridCol w="2344257">
                  <a:extLst>
                    <a:ext uri="{9D8B030D-6E8A-4147-A177-3AD203B41FA5}">
                      <a16:colId xmlns:a16="http://schemas.microsoft.com/office/drawing/2014/main" val="3380935676"/>
                    </a:ext>
                  </a:extLst>
                </a:gridCol>
                <a:gridCol w="2344257">
                  <a:extLst>
                    <a:ext uri="{9D8B030D-6E8A-4147-A177-3AD203B41FA5}">
                      <a16:colId xmlns:a16="http://schemas.microsoft.com/office/drawing/2014/main" val="1443300607"/>
                    </a:ext>
                  </a:extLst>
                </a:gridCol>
                <a:gridCol w="2344257">
                  <a:extLst>
                    <a:ext uri="{9D8B030D-6E8A-4147-A177-3AD203B41FA5}">
                      <a16:colId xmlns:a16="http://schemas.microsoft.com/office/drawing/2014/main" val="2615834418"/>
                    </a:ext>
                  </a:extLst>
                </a:gridCol>
              </a:tblGrid>
              <a:tr h="56907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/ Source</a:t>
                      </a:r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sz="180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/ Method Used</a:t>
                      </a:r>
                      <a:endParaRPr lang="en-US" sz="180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US" sz="180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sz="180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extLst>
                  <a:ext uri="{0D108BD9-81ED-4DB2-BD59-A6C34878D82A}">
                    <a16:rowId xmlns:a16="http://schemas.microsoft.com/office/drawing/2014/main" val="2257984967"/>
                  </a:ext>
                </a:extLst>
              </a:tr>
              <a:tr h="1110503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IJNRD</a:t>
                      </a:r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tc>
                  <a:txBody>
                    <a:bodyPr/>
                    <a:lstStyle/>
                    <a:p>
                      <a:r>
                        <a:rPr lang="en-AE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en-AE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College Enquiry Chatbot with NLP &amp; TF-IDF</a:t>
                      </a:r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instant responses to student queries and reduces administrative workload</a:t>
                      </a:r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continuous knowledge-base updates (</a:t>
                      </a: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 tooltip="AI-BASED COLLEGE ENQUIRY CHATBOT USING NLP ...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IJNRD</a:t>
                      </a: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extLst>
                  <a:ext uri="{0D108BD9-81ED-4DB2-BD59-A6C34878D82A}">
                    <a16:rowId xmlns:a16="http://schemas.microsoft.com/office/drawing/2014/main" val="2948842916"/>
                  </a:ext>
                </a:extLst>
              </a:tr>
              <a:tr h="1381215"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RJ Wave Journal</a:t>
                      </a:r>
                      <a:endParaRPr lang="en-US" sz="180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tc>
                  <a:txBody>
                    <a:bodyPr/>
                    <a:lstStyle/>
                    <a:p>
                      <a:r>
                        <a:rPr lang="en-AE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en-AE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+ NLTK + NLP Chatbot</a:t>
                      </a:r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Automates admission, course, and fee enquiries with improved response accuracy</a:t>
                      </a:r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by training data and predefined knowledge base (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 tooltip="AI-Based College Enquiry Chatbot Using Natural ...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RJWAVE Research Journal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extLst>
                  <a:ext uri="{0D108BD9-81ED-4DB2-BD59-A6C34878D82A}">
                    <a16:rowId xmlns:a16="http://schemas.microsoft.com/office/drawing/2014/main" val="2372141353"/>
                  </a:ext>
                </a:extLst>
              </a:tr>
              <a:tr h="1110503"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IJRASET</a:t>
                      </a:r>
                      <a:endParaRPr lang="en-US" sz="180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tc>
                  <a:txBody>
                    <a:bodyPr/>
                    <a:lstStyle/>
                    <a:p>
                      <a:r>
                        <a:rPr lang="en-AE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en-AE" sz="180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Conversational AI (Azure &amp; Rasa)</a:t>
                      </a:r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Cloud-based conversational AI offers personalized and scalable student support</a:t>
                      </a:r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complex implementation than rule-based systems (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 tooltip="College Enquiry Chatbot using Conversational AI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IJRASET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extLst>
                  <a:ext uri="{0D108BD9-81ED-4DB2-BD59-A6C34878D82A}">
                    <a16:rowId xmlns:a16="http://schemas.microsoft.com/office/drawing/2014/main" val="1585525753"/>
                  </a:ext>
                </a:extLst>
              </a:tr>
              <a:tr h="1110503"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Sirnoorkar &amp; Mamidpalliwar</a:t>
                      </a:r>
                      <a:endParaRPr lang="en-US" sz="180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tc>
                  <a:txBody>
                    <a:bodyPr/>
                    <a:lstStyle/>
                    <a:p>
                      <a:r>
                        <a:rPr lang="en-AE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en-AE" sz="180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LLM-Based Educational Chatbot</a:t>
                      </a:r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chatbots improve learning support and guided student interaction</a:t>
                      </a:r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varies with user interaction preferences (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 tooltip="Students' Epistemological Beliefs and their Chatbot Preferences in AI-mediated Physics Learning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arXiv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21" marR="28021" marT="14011" marB="14011" anchor="ctr"/>
                </a:tc>
                <a:extLst>
                  <a:ext uri="{0D108BD9-81ED-4DB2-BD59-A6C34878D82A}">
                    <a16:rowId xmlns:a16="http://schemas.microsoft.com/office/drawing/2014/main" val="3927494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17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43B76-9E85-EC35-623F-B390C4E44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>
            <a:extLst>
              <a:ext uri="{FF2B5EF4-FFF2-40B4-BE49-F238E27FC236}">
                <a16:creationId xmlns:a16="http://schemas.microsoft.com/office/drawing/2014/main" id="{12301405-E57D-8F95-EB9C-DF33B71494F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23811" y="187706"/>
            <a:ext cx="1527175" cy="1349375"/>
          </a:xfrm>
          <a:prstGeom prst="rect">
            <a:avLst/>
          </a:prstGeom>
        </p:spPr>
      </p:pic>
      <p:pic>
        <p:nvPicPr>
          <p:cNvPr id="3" name="Image 1">
            <a:extLst>
              <a:ext uri="{FF2B5EF4-FFF2-40B4-BE49-F238E27FC236}">
                <a16:creationId xmlns:a16="http://schemas.microsoft.com/office/drawing/2014/main" id="{B6472152-4B21-CB19-E342-EF608C59F29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2643" y="187706"/>
            <a:ext cx="1104265" cy="13436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8588F51-817F-499D-92E5-2B9C6B169DF5}"/>
              </a:ext>
            </a:extLst>
          </p:cNvPr>
          <p:cNvSpPr/>
          <p:nvPr/>
        </p:nvSpPr>
        <p:spPr>
          <a:xfrm>
            <a:off x="4541728" y="536370"/>
            <a:ext cx="31085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AE" sz="36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BA2F50-42C6-4745-B177-4CB6021D59F0}"/>
              </a:ext>
            </a:extLst>
          </p:cNvPr>
          <p:cNvSpPr/>
          <p:nvPr/>
        </p:nvSpPr>
        <p:spPr>
          <a:xfrm>
            <a:off x="1089955" y="2019104"/>
            <a:ext cx="10012087" cy="390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interactive chatbot for handling college-related enquiries.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provide quick and accurate information about courses, admissions, fees,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and facilities.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store and manage college information securely using cloud database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technology.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workload of college staff by automating repetitive enquiries.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provide 24/7 access to college information for students and visitors. </a:t>
            </a:r>
          </a:p>
        </p:txBody>
      </p:sp>
    </p:spTree>
    <p:extLst>
      <p:ext uri="{BB962C8B-B14F-4D97-AF65-F5344CB8AC3E}">
        <p14:creationId xmlns:p14="http://schemas.microsoft.com/office/powerpoint/2010/main" val="1511043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32BEA6BC-9EDB-D67F-767C-9FE65A7A707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040" y="73515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DA15C996-BCB5-1A04-8EB2-2BE47D43199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9794" y="72755"/>
            <a:ext cx="1520062" cy="13428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7099B8-9254-4E49-AA66-E9B25C475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040" y="1489928"/>
            <a:ext cx="11963816" cy="52210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261538-ED42-4B0C-AAD5-2C604E709D39}"/>
              </a:ext>
            </a:extLst>
          </p:cNvPr>
          <p:cNvSpPr txBox="1"/>
          <p:nvPr/>
        </p:nvSpPr>
        <p:spPr>
          <a:xfrm>
            <a:off x="3033204" y="421037"/>
            <a:ext cx="6125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AE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99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352" y="269429"/>
            <a:ext cx="10972800" cy="126508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             </a:t>
            </a:r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30D2CE-0538-463F-4578-AAC4D966B18C}"/>
              </a:ext>
            </a:extLst>
          </p:cNvPr>
          <p:cNvSpPr txBox="1"/>
          <p:nvPr/>
        </p:nvSpPr>
        <p:spPr>
          <a:xfrm>
            <a:off x="1797580" y="493647"/>
            <a:ext cx="84115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1- CHATBOT INTERACTION &amp; QUERY PROCESSING</a:t>
            </a:r>
          </a:p>
        </p:txBody>
      </p:sp>
      <p:pic>
        <p:nvPicPr>
          <p:cNvPr id="11" name="8eed09ed691780655722cc6bfe94848c_540w">
            <a:hlinkClick r:id="" action="ppaction://media"/>
            <a:extLst>
              <a:ext uri="{FF2B5EF4-FFF2-40B4-BE49-F238E27FC236}">
                <a16:creationId xmlns:a16="http://schemas.microsoft.com/office/drawing/2014/main" id="{1CAE2BFF-0B60-5A37-1A20-88CC6D6A96A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898672" y="2315104"/>
            <a:ext cx="3231118" cy="36931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64A9358-B363-4458-A367-E62FBBB21BF5}"/>
              </a:ext>
            </a:extLst>
          </p:cNvPr>
          <p:cNvSpPr/>
          <p:nvPr/>
        </p:nvSpPr>
        <p:spPr>
          <a:xfrm>
            <a:off x="372148" y="1934925"/>
            <a:ext cx="8411540" cy="4653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an interactive chatbot interface for students and visitors to ask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college-related questions.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Accepts and processes user queries using natural language processing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techniques.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Identifies the user's intent and matches the query with relevant college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information.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quick and accurate responses about admissions, courses, fees,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departments, and facilities.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Maintains a smooth conversation flow and improves the overall user enquiry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experience.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63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04BBA-9549-6421-EC9B-44E134856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2218EF27-429A-EC45-F55E-DDF78BAF3E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643" y="187706"/>
            <a:ext cx="1104265" cy="134366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9A485BC5-178A-FAB4-1C5C-53D173C32EC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2164" y="181991"/>
            <a:ext cx="1527175" cy="1349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84667-190B-0F50-4EC8-31DCE3D595AF}"/>
              </a:ext>
            </a:extLst>
          </p:cNvPr>
          <p:cNvSpPr txBox="1"/>
          <p:nvPr/>
        </p:nvSpPr>
        <p:spPr>
          <a:xfrm>
            <a:off x="2127681" y="482389"/>
            <a:ext cx="793663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2- CLOUD DATA BASE &amp; RESPONSE </a:t>
            </a:r>
          </a:p>
          <a:p>
            <a:pPr lvl="0"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45F71E-550E-7916-074E-6636946BE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669" y="2313488"/>
            <a:ext cx="3248991" cy="36849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A2B5F7C-1C4C-464E-B8CE-37947A4DA54E}"/>
              </a:ext>
            </a:extLst>
          </p:cNvPr>
          <p:cNvSpPr/>
          <p:nvPr/>
        </p:nvSpPr>
        <p:spPr>
          <a:xfrm>
            <a:off x="322643" y="2016648"/>
            <a:ext cx="8324060" cy="498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0CE9E41-4A6B-4410-8733-7A634B83D60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47611" y="1531366"/>
            <a:ext cx="8324060" cy="4930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all college information, such as admissions, courses, fees, faculty details, and announcements, in a secure cloud database.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Retrieves relevant information quickly based on the student's enquiry and provides accurate responses.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AI and Natural Language Processing (NLP) to understand user queries and generate appropriate replies.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administrators to update the database in real time, ensuring students always receive the latest information.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secure, scalable, and reliable access to data, enabling the chatbot to serve multiple users anytime and anywhere. </a:t>
            </a:r>
          </a:p>
        </p:txBody>
      </p:sp>
    </p:spTree>
    <p:extLst>
      <p:ext uri="{BB962C8B-B14F-4D97-AF65-F5344CB8AC3E}">
        <p14:creationId xmlns:p14="http://schemas.microsoft.com/office/powerpoint/2010/main" val="35695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403D7-1685-4F67-BEEA-1AB65E973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479" y="583820"/>
            <a:ext cx="8965294" cy="985421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User Authentication &amp; College Information</a:t>
            </a:r>
            <a:endParaRPr lang="en-AE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43C49F-5257-4833-8B77-4B8FCD43B56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5310" y="319596"/>
            <a:ext cx="1135117" cy="1428142"/>
          </a:xfrm>
          <a:prstGeom prst="rect">
            <a:avLst/>
          </a:prstGeom>
          <a:noFill/>
        </p:spPr>
      </p:pic>
      <p:pic>
        <p:nvPicPr>
          <p:cNvPr id="5" name="Image 2">
            <a:extLst>
              <a:ext uri="{FF2B5EF4-FFF2-40B4-BE49-F238E27FC236}">
                <a16:creationId xmlns:a16="http://schemas.microsoft.com/office/drawing/2014/main" id="{BAE6C140-FF70-4336-BF05-414A8205FB9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9825" y="319596"/>
            <a:ext cx="1527175" cy="15138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21D9446-66C2-4687-8FDD-185D1271D05C}"/>
              </a:ext>
            </a:extLst>
          </p:cNvPr>
          <p:cNvSpPr/>
          <p:nvPr/>
        </p:nvSpPr>
        <p:spPr>
          <a:xfrm>
            <a:off x="349188" y="2260880"/>
            <a:ext cx="8271030" cy="4094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user account details securely and manages login authentication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Maintains student and visitor profiles with secure access control.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Retrieves and displays college information such as courses, 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departments, admissions, and fees.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personalized access to chatbot services after successful 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login.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securely access and explore college information 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anytime. </a:t>
            </a:r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0AA84077-96D2-49A5-B773-EA7A6D2C12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95857" y="2175768"/>
            <a:ext cx="5144610" cy="5144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E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C294939-334A-4831-9F41-B3DFBE9A3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4382" y="2260880"/>
            <a:ext cx="3426782" cy="37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869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10546-318A-4661-8FDF-7A64D1BF8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023" y="452613"/>
            <a:ext cx="8495929" cy="1172908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 –Admin Management &amp; Query Analytics</a:t>
            </a:r>
            <a:endParaRPr lang="en-AE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055900-89D3-4248-9762-C961680DED5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2964" y="198117"/>
            <a:ext cx="1135117" cy="1342884"/>
          </a:xfrm>
          <a:prstGeom prst="rect">
            <a:avLst/>
          </a:prstGeom>
          <a:noFill/>
        </p:spPr>
      </p:pic>
      <p:pic>
        <p:nvPicPr>
          <p:cNvPr id="4" name="Image 2">
            <a:extLst>
              <a:ext uri="{FF2B5EF4-FFF2-40B4-BE49-F238E27FC236}">
                <a16:creationId xmlns:a16="http://schemas.microsoft.com/office/drawing/2014/main" id="{D5566978-0FE3-46EC-A6A9-05AD7ADE5DA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57894" y="279860"/>
            <a:ext cx="1527175" cy="1349375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983D426-FE46-4F55-95D4-7EF447CA7CE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12964" y="1829875"/>
            <a:ext cx="7703073" cy="4468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secure admin dashboard to manage and control the chatbot system.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administrators to add, update, and delete college information stored in the system.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admins to monitor user queries and review chatbot interactions.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Analyzes frequently asked questions to identify common student and visitor requirements.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useful reports on chatbot usage and user enquiry patterns.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F2A24C-F1DB-453C-BE82-D7B36314B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5414" y="2515289"/>
            <a:ext cx="3959655" cy="356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952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862E5-7980-4F78-2B22-856F82336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F16A4AA3-DC4E-385E-C208-1D3D1C9C5D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643" y="187706"/>
            <a:ext cx="1104265" cy="134366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316359A-D1FB-5562-913F-0F316D0CDA3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23811" y="187706"/>
            <a:ext cx="1527175" cy="1349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718B95-AEF1-AD3F-7B63-1BF16AC2416F}"/>
              </a:ext>
            </a:extLst>
          </p:cNvPr>
          <p:cNvSpPr txBox="1"/>
          <p:nvPr/>
        </p:nvSpPr>
        <p:spPr>
          <a:xfrm>
            <a:off x="4179348" y="505593"/>
            <a:ext cx="38333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98FED1F-BCF9-E2E4-910B-FA8DEC257D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4218499"/>
              </p:ext>
            </p:extLst>
          </p:nvPr>
        </p:nvGraphicFramePr>
        <p:xfrm>
          <a:off x="796412" y="2202426"/>
          <a:ext cx="10864646" cy="35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3265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CB3FB-2611-3D4B-ED71-6629E0F25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973" y="381455"/>
            <a:ext cx="3378054" cy="874046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F3DA0B6-4265-A4A3-B98D-CD9E556B9CA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695" y="147031"/>
            <a:ext cx="1103582" cy="134289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89E3A330-7123-4541-8E61-1F54828A6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838" y="1606886"/>
            <a:ext cx="11368324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Based Chatbot for College Enquiry System.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(2026).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Engineering Research and Science &amp; Technology, 22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(2), 318–324. https://doi.org/10.62643/IJERST.2026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Badger, M., López, N., &amp; Nissen, C. F. R. (2026).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Impact of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GenAI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Chatbots on Student Learning in Higher Education: A Literature Review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Technology in Education, 9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(1), 43–69.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Smutny, P., &amp; Schreiberova, P. (2026).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Rules to Language Models: A Comparative Study of Chatbot Learning Assistants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Frontiers in Education, 11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https://doi.org/10.3389/feduc.2026.1794807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Nambia, A. R., &amp; Devi, H. S. (2026).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Systematic Review of AI Chatbots in Education Using NLP and LLMs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Latest Technology in Engineering Management &amp; Applied Science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https://doi.org/10.51583/IJLTEMAS.2026.150500038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Meyer, K. E., Page, L. C., Mata, C., Smith, E., Walsh, B. T., Fifield, C. L., Tyson, M.,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Eremionkhale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A. E., Evans, M., Frost, S., &amp; Jung, E. E. (2026).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Let's Chat: Leveraging Chatbot Outreach for Improved Course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National Bureau of Economic Research (NBER Working Paper No. 35397). https://doi.org/10.3386/w35397 </a:t>
            </a:r>
          </a:p>
        </p:txBody>
      </p:sp>
    </p:spTree>
    <p:extLst>
      <p:ext uri="{BB962C8B-B14F-4D97-AF65-F5344CB8AC3E}">
        <p14:creationId xmlns:p14="http://schemas.microsoft.com/office/powerpoint/2010/main" val="180985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This may contain: the words thank you are written in white on a dark blue background with lines and dots">
            <a:extLst>
              <a:ext uri="{FF2B5EF4-FFF2-40B4-BE49-F238E27FC236}">
                <a16:creationId xmlns:a16="http://schemas.microsoft.com/office/drawing/2014/main" id="{7D6E64DB-0CB1-1687-2DA8-A43647814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637" y="536510"/>
            <a:ext cx="9392726" cy="52867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Cover and End Slide Master">
  <a:themeElements>
    <a:clrScheme name="ALLPPT-COLOR-A2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57A7BD"/>
      </a:accent1>
      <a:accent2>
        <a:srgbClr val="69B6CC"/>
      </a:accent2>
      <a:accent3>
        <a:srgbClr val="57A7BD"/>
      </a:accent3>
      <a:accent4>
        <a:srgbClr val="69B6CC"/>
      </a:accent4>
      <a:accent5>
        <a:srgbClr val="57A7BD"/>
      </a:accent5>
      <a:accent6>
        <a:srgbClr val="69B6CC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2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57A7BD"/>
      </a:accent1>
      <a:accent2>
        <a:srgbClr val="69B6CC"/>
      </a:accent2>
      <a:accent3>
        <a:srgbClr val="57A7BD"/>
      </a:accent3>
      <a:accent4>
        <a:srgbClr val="69B6CC"/>
      </a:accent4>
      <a:accent5>
        <a:srgbClr val="57A7BD"/>
      </a:accent5>
      <a:accent6>
        <a:srgbClr val="69B6CC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2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57A7BD"/>
      </a:accent1>
      <a:accent2>
        <a:srgbClr val="69B6CC"/>
      </a:accent2>
      <a:accent3>
        <a:srgbClr val="57A7BD"/>
      </a:accent3>
      <a:accent4>
        <a:srgbClr val="69B6CC"/>
      </a:accent4>
      <a:accent5>
        <a:srgbClr val="57A7BD"/>
      </a:accent5>
      <a:accent6>
        <a:srgbClr val="69B6CC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Water-Colored-Splashes-PowerPoint-Template</Template>
  <TotalTime>602</TotalTime>
  <Words>1046</Words>
  <Application>Microsoft Office PowerPoint</Application>
  <PresentationFormat>Widescreen</PresentationFormat>
  <Paragraphs>115</Paragraphs>
  <Slides>13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Aptos</vt:lpstr>
      <vt:lpstr>Arial</vt:lpstr>
      <vt:lpstr>Century Gothic</vt:lpstr>
      <vt:lpstr>Times New Roman</vt:lpstr>
      <vt:lpstr>Wingdings</vt:lpstr>
      <vt:lpstr>Wingdings 3</vt:lpstr>
      <vt:lpstr>Cover and End Slide Master</vt:lpstr>
      <vt:lpstr>Contents Slide Master</vt:lpstr>
      <vt:lpstr>Section Break Slide Master</vt:lpstr>
      <vt:lpstr>Slice</vt:lpstr>
      <vt:lpstr>PowerPoint Presentation</vt:lpstr>
      <vt:lpstr>PowerPoint Presentation</vt:lpstr>
      <vt:lpstr>PowerPoint Presentation</vt:lpstr>
      <vt:lpstr>Literature Review / Background</vt:lpstr>
      <vt:lpstr>PowerPoint Presentation</vt:lpstr>
      <vt:lpstr>PowerPoint Presentation</vt:lpstr>
      <vt:lpstr>             </vt:lpstr>
      <vt:lpstr>PowerPoint Presentation</vt:lpstr>
      <vt:lpstr>Module 3 – User Authentication &amp; College Information</vt:lpstr>
      <vt:lpstr>Module 4 –Admin Management &amp; Query Analytics</vt:lpstr>
      <vt:lpstr>PowerPoint Presentation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peddintibalaji27@gmail.com</dc:creator>
  <cp:lastModifiedBy>R jaideep Deepu</cp:lastModifiedBy>
  <cp:revision>32</cp:revision>
  <dcterms:created xsi:type="dcterms:W3CDTF">2025-09-15T03:15:53Z</dcterms:created>
  <dcterms:modified xsi:type="dcterms:W3CDTF">2026-08-05T15:17:42Z</dcterms:modified>
</cp:coreProperties>
</file>